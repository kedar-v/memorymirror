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21945600" cy="21945600"/>
  <p:notesSz cx="21945600" cy="219456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21305520" cy="21305520"/>
          </a:xfrm>
          <a:prstGeom prst="rect">
            <a:avLst/>
          </a:prstGeom>
          <a:ln w="19050">
            <a:solidFill>
              <a:srgbClr val="1D2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502920"/>
            <a:ext cx="20939760" cy="2880360"/>
          </a:xfrm>
          <a:prstGeom prst="rect">
            <a:avLst/>
          </a:prstGeom>
          <a:solidFill>
            <a:srgbClr val="1D2A44"/>
          </a:solidFill>
          <a:ln w="12700">
            <a:solidFill>
              <a:srgbClr val="1D2A4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640080"/>
            <a:ext cx="1463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AIPI 590  ·  Responsible AI  ·  Duke University  ·  Fall 2026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960120"/>
            <a:ext cx="1463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MemoryMirror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874520"/>
            <a:ext cx="1508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5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See, trace, and correct the memories an assistant is using.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6093440" y="1234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Kedar Prashant Vaidya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6093440" y="16459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XAI demo  ·  Project 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3383280"/>
            <a:ext cx="20939760" cy="109728"/>
          </a:xfrm>
          <a:prstGeom prst="rect">
            <a:avLst/>
          </a:prstGeom>
          <a:solidFill>
            <a:srgbClr val="1A7A6D"/>
          </a:solidFill>
          <a:ln w="12700">
            <a:solidFill>
              <a:srgbClr val="1A7A6D"/>
            </a:solidFill>
            <a:prstDash val="solid"/>
          </a:ln>
        </p:spPr>
      </p:sp>
      <p:pic>
        <p:nvPicPr>
          <p:cNvPr id="10" name="Image 0" descr="/Users/kedarvaidya/.cursor/projects/Users-kedarvaidya-Desktop-XAI-Demo/assets/poster-her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657600"/>
            <a:ext cx="9966960" cy="55778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02920" y="8732520"/>
            <a:ext cx="9966960" cy="502920"/>
          </a:xfrm>
          <a:prstGeom prst="rect">
            <a:avLst/>
          </a:prstGeom>
          <a:solidFill>
            <a:srgbClr val="1D2A44"/>
          </a:solidFill>
          <a:ln w="12700">
            <a:solidFill>
              <a:srgbClr val="1D2A4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879652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  ·  Memory as a mirror: beliefs become inspectable reflections of prior talk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10698480" y="3657600"/>
            <a:ext cx="10744200" cy="5577840"/>
          </a:xfrm>
          <a:prstGeom prst="roundRect">
            <a:avLst>
              <a:gd name="adj" fmla="val 1311"/>
            </a:avLst>
          </a:prstGeom>
          <a:solidFill>
            <a:srgbClr val="FFFBF6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927080" y="3840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1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0927080" y="4251960"/>
            <a:ext cx="10287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Assistants now keep durable “memories” about people. When those memories are wrong, stale, or over-inferred, the person usually cannot see the record, cannot prove where it came from, and cannot test whether fixing it changes the next reply.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0927080" y="57607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1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10927080" y="6172200"/>
            <a:ext cx="10287000" cy="1417320"/>
          </a:xfrm>
          <a:prstGeom prst="roundRect">
            <a:avLst>
              <a:gd name="adj" fmla="val 5161"/>
            </a:avLst>
          </a:prstGeom>
          <a:solidFill>
            <a:srgbClr val="E4F2EF"/>
          </a:solidFill>
          <a:ln w="15875">
            <a:solidFill>
              <a:srgbClr val="1A7A6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1109960" y="6309360"/>
            <a:ext cx="9921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D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an assistant answers from a stored memory, can a person see that memory, trace it to a source message, correct it, and get a different answer to the same question under the same model and the same agent settings?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10927080" y="7772400"/>
            <a:ext cx="10287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</a:t>
            </a:r>
            <a:pPr indent="0" marL="0">
              <a:buNone/>
            </a:pPr>
            <a:r>
              <a:rPr lang="en-US" sz="1500" dirty="0">
                <a:solidFill>
                  <a:srgbClr val="5C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Human–AI interaction · Explainable AI · Memory provenance
</a:t>
            </a:r>
            <a:pPr indent="0" marL="0">
              <a:buNone/>
            </a:pPr>
            <a:r>
              <a:rPr lang="en-US" sz="1500" b="1" dirty="0">
                <a:solidFill>
                  <a:srgbClr val="5C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</a:t>
            </a:r>
            <a:pPr indent="0" marL="0">
              <a:buNone/>
            </a:pPr>
            <a:r>
              <a:rPr lang="en-US" sz="1500" dirty="0">
                <a:solidFill>
                  <a:srgbClr val="5C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subject to assistant memory, plus builders who need a correction loop they can evaluate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02920" y="9464040"/>
            <a:ext cx="6858000" cy="6903720"/>
          </a:xfrm>
          <a:prstGeom prst="roundRect">
            <a:avLst>
              <a:gd name="adj" fmla="val 1067"/>
            </a:avLst>
          </a:prstGeom>
          <a:solidFill>
            <a:srgbClr val="FFFBF6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85800" y="9646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1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685800" y="1005840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interactive memory lab</a:t>
            </a:r>
            <a:endParaRPr lang="en-US" sz="2600" dirty="0"/>
          </a:p>
        </p:txBody>
      </p:sp>
      <p:sp>
        <p:nvSpPr>
          <p:cNvPr id="23" name="Text 20"/>
          <p:cNvSpPr txBox="1"/>
          <p:nvPr/>
        </p:nvSpPr>
        <p:spPr>
          <a:xfrm>
            <a:off x="685800" y="10515600"/>
            <a:ext cx="6492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of active beliefs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 graph: message → belief → reply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/ delete with version history kept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Three-arm counterfactual lab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12-case research benchmark + JSON export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filter; local-first privacy</a:t>
            </a:r>
            <a:endParaRPr lang="en-US" sz="1600" dirty="0"/>
          </a:p>
        </p:txBody>
      </p:sp>
      <p:pic>
        <p:nvPicPr>
          <p:cNvPr id="24" name="Image 1" descr="/Users/kedarvaidya/.cursor/projects/Users-kedarvaidya-Desktop-XAI-Demo/assets/poster-lineag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030200"/>
            <a:ext cx="6492240" cy="2971800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7543800" y="9464040"/>
            <a:ext cx="6858000" cy="6903720"/>
          </a:xfrm>
          <a:prstGeom prst="roundRect">
            <a:avLst>
              <a:gd name="adj" fmla="val 1067"/>
            </a:avLst>
          </a:prstGeom>
          <a:solidFill>
            <a:srgbClr val="FFFBF6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7726680" y="9646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1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7726680" y="1005840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Hold the model fixed. Change only memory.</a:t>
            </a:r>
            <a:endParaRPr lang="en-US" sz="2200" dirty="0"/>
          </a:p>
        </p:txBody>
      </p:sp>
      <p:sp>
        <p:nvSpPr>
          <p:cNvPr id="28" name="Text 24"/>
          <p:cNvSpPr txBox="1"/>
          <p:nvPr/>
        </p:nvSpPr>
        <p:spPr>
          <a:xfrm>
            <a:off x="7726680" y="10561320"/>
            <a:ext cx="6492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synthetic people ship with a planted stale or over-inferred belief. The lab freezes model id and agent options, then swaps only the memory snapshot fed to the prompt.</a:t>
            </a:r>
            <a:endParaRPr lang="en-US" sz="1500" dirty="0"/>
          </a:p>
        </p:txBody>
      </p:sp>
      <p:sp>
        <p:nvSpPr>
          <p:cNvPr id="29" name="Shape 25"/>
          <p:cNvSpPr/>
          <p:nvPr/>
        </p:nvSpPr>
        <p:spPr>
          <a:xfrm>
            <a:off x="7726680" y="11932920"/>
            <a:ext cx="6492240" cy="822960"/>
          </a:xfrm>
          <a:prstGeom prst="roundRect">
            <a:avLst>
              <a:gd name="adj" fmla="val 6667"/>
            </a:avLst>
          </a:prstGeom>
          <a:solidFill>
            <a:srgbClr val="E4F2EF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7863840" y="121158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31" name="Text 27"/>
          <p:cNvSpPr txBox="1"/>
          <p:nvPr/>
        </p:nvSpPr>
        <p:spPr>
          <a:xfrm>
            <a:off x="8732520" y="1204264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</a:t>
            </a:r>
            <a:endParaRPr lang="en-US" sz="1800" dirty="0"/>
          </a:p>
        </p:txBody>
      </p:sp>
      <p:sp>
        <p:nvSpPr>
          <p:cNvPr id="32" name="Text 28"/>
          <p:cNvSpPr txBox="1"/>
          <p:nvPr/>
        </p:nvSpPr>
        <p:spPr>
          <a:xfrm>
            <a:off x="8732520" y="123444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belief card</a:t>
            </a:r>
            <a:endParaRPr lang="en-US" sz="1400" dirty="0"/>
          </a:p>
        </p:txBody>
      </p:sp>
      <p:sp>
        <p:nvSpPr>
          <p:cNvPr id="33" name="Shape 29"/>
          <p:cNvSpPr/>
          <p:nvPr/>
        </p:nvSpPr>
        <p:spPr>
          <a:xfrm>
            <a:off x="7726680" y="12893040"/>
            <a:ext cx="6492240" cy="822960"/>
          </a:xfrm>
          <a:prstGeom prst="roundRect">
            <a:avLst>
              <a:gd name="adj" fmla="val 6667"/>
            </a:avLst>
          </a:prstGeom>
          <a:solidFill>
            <a:srgbClr val="FFFBF6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7863840" y="130759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35" name="Text 31"/>
          <p:cNvSpPr txBox="1"/>
          <p:nvPr/>
        </p:nvSpPr>
        <p:spPr>
          <a:xfrm>
            <a:off x="8732520" y="1300276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</a:t>
            </a:r>
            <a:endParaRPr lang="en-US" sz="1800" dirty="0"/>
          </a:p>
        </p:txBody>
      </p:sp>
      <p:sp>
        <p:nvSpPr>
          <p:cNvPr id="36" name="Text 32"/>
          <p:cNvSpPr txBox="1"/>
          <p:nvPr/>
        </p:nvSpPr>
        <p:spPr>
          <a:xfrm>
            <a:off x="8732520" y="133045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message</a:t>
            </a:r>
            <a:endParaRPr lang="en-US" sz="1400" dirty="0"/>
          </a:p>
        </p:txBody>
      </p:sp>
      <p:sp>
        <p:nvSpPr>
          <p:cNvPr id="37" name="Shape 33"/>
          <p:cNvSpPr/>
          <p:nvPr/>
        </p:nvSpPr>
        <p:spPr>
          <a:xfrm>
            <a:off x="7726680" y="13853160"/>
            <a:ext cx="6492240" cy="822960"/>
          </a:xfrm>
          <a:prstGeom prst="roundRect">
            <a:avLst>
              <a:gd name="adj" fmla="val 6667"/>
            </a:avLst>
          </a:prstGeom>
          <a:solidFill>
            <a:srgbClr val="E4F2EF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7863840" y="140360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39" name="Text 35"/>
          <p:cNvSpPr txBox="1"/>
          <p:nvPr/>
        </p:nvSpPr>
        <p:spPr>
          <a:xfrm>
            <a:off x="8732520" y="1396288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800" dirty="0"/>
          </a:p>
        </p:txBody>
      </p:sp>
      <p:sp>
        <p:nvSpPr>
          <p:cNvPr id="40" name="Text 36"/>
          <p:cNvSpPr txBox="1"/>
          <p:nvPr/>
        </p:nvSpPr>
        <p:spPr>
          <a:xfrm>
            <a:off x="8732520" y="142646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version; old kept</a:t>
            </a:r>
            <a:endParaRPr lang="en-US" sz="1400" dirty="0"/>
          </a:p>
        </p:txBody>
      </p:sp>
      <p:sp>
        <p:nvSpPr>
          <p:cNvPr id="41" name="Shape 37"/>
          <p:cNvSpPr/>
          <p:nvPr/>
        </p:nvSpPr>
        <p:spPr>
          <a:xfrm>
            <a:off x="7726680" y="14813280"/>
            <a:ext cx="6492240" cy="822960"/>
          </a:xfrm>
          <a:prstGeom prst="roundRect">
            <a:avLst>
              <a:gd name="adj" fmla="val 6667"/>
            </a:avLst>
          </a:prstGeom>
          <a:solidFill>
            <a:srgbClr val="FFFBF6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7863840" y="149961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43" name="Text 39"/>
          <p:cNvSpPr txBox="1"/>
          <p:nvPr/>
        </p:nvSpPr>
        <p:spPr>
          <a:xfrm>
            <a:off x="8732520" y="1492300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Re-ask</a:t>
            </a:r>
            <a:endParaRPr lang="en-US" sz="1800" dirty="0"/>
          </a:p>
        </p:txBody>
      </p:sp>
      <p:sp>
        <p:nvSpPr>
          <p:cNvPr id="44" name="Text 40"/>
          <p:cNvSpPr txBox="1"/>
          <p:nvPr/>
        </p:nvSpPr>
        <p:spPr>
          <a:xfrm>
            <a:off x="8732520" y="152247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Q, new memory</a:t>
            </a:r>
            <a:endParaRPr lang="en-US" sz="1400" dirty="0"/>
          </a:p>
        </p:txBody>
      </p:sp>
      <p:sp>
        <p:nvSpPr>
          <p:cNvPr id="45" name="Shape 41"/>
          <p:cNvSpPr/>
          <p:nvPr/>
        </p:nvSpPr>
        <p:spPr>
          <a:xfrm>
            <a:off x="14584680" y="9464040"/>
            <a:ext cx="6858000" cy="6903720"/>
          </a:xfrm>
          <a:prstGeom prst="roundRect">
            <a:avLst>
              <a:gd name="adj" fmla="val 1067"/>
            </a:avLst>
          </a:prstGeom>
          <a:solidFill>
            <a:srgbClr val="FFFBF6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14767560" y="9646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1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47" name="Text 43"/>
          <p:cNvSpPr txBox="1"/>
          <p:nvPr/>
        </p:nvSpPr>
        <p:spPr>
          <a:xfrm>
            <a:off x="14767560" y="1005840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Evidence, not vibes</a:t>
            </a:r>
            <a:endParaRPr lang="en-US" sz="2400" dirty="0"/>
          </a:p>
        </p:txBody>
      </p:sp>
      <p:pic>
        <p:nvPicPr>
          <p:cNvPr id="48" name="Image 2" descr="/Users/kedarvaidya/.cursor/projects/Users-kedarvaidya-Desktop-XAI-Demo/assets/poster-lab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7560" y="10515600"/>
            <a:ext cx="6492240" cy="2606040"/>
          </a:xfrm>
          <a:prstGeom prst="rect">
            <a:avLst/>
          </a:prstGeom>
        </p:spPr>
      </p:pic>
      <p:sp>
        <p:nvSpPr>
          <p:cNvPr id="49" name="Text 44"/>
          <p:cNvSpPr txBox="1"/>
          <p:nvPr/>
        </p:nvSpPr>
        <p:spPr>
          <a:xfrm>
            <a:off x="14767560" y="1316736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  ·  Same question × three memory arms</a:t>
            </a:r>
            <a:endParaRPr lang="en-US" sz="1100" dirty="0"/>
          </a:p>
        </p:txBody>
      </p:sp>
      <p:sp>
        <p:nvSpPr>
          <p:cNvPr id="50" name="Shape 45"/>
          <p:cNvSpPr/>
          <p:nvPr/>
        </p:nvSpPr>
        <p:spPr>
          <a:xfrm>
            <a:off x="14767560" y="13533120"/>
            <a:ext cx="164592" cy="731520"/>
          </a:xfrm>
          <a:prstGeom prst="rect">
            <a:avLst/>
          </a:prstGeom>
          <a:solidFill>
            <a:srgbClr val="1A7A6D"/>
          </a:solidFill>
          <a:ln w="12700">
            <a:solidFill>
              <a:srgbClr val="1A7A6D"/>
            </a:solidFill>
            <a:prstDash val="solid"/>
          </a:ln>
        </p:spPr>
      </p:sp>
      <p:sp>
        <p:nvSpPr>
          <p:cNvPr id="51" name="Text 46"/>
          <p:cNvSpPr txBox="1"/>
          <p:nvPr/>
        </p:nvSpPr>
        <p:spPr>
          <a:xfrm>
            <a:off x="15087600" y="1353312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adherence</a:t>
            </a:r>
            <a:endParaRPr lang="en-US" sz="1500" dirty="0"/>
          </a:p>
        </p:txBody>
      </p:sp>
      <p:sp>
        <p:nvSpPr>
          <p:cNvPr id="52" name="Text 47"/>
          <p:cNvSpPr txBox="1"/>
          <p:nvPr/>
        </p:nvSpPr>
        <p:spPr>
          <a:xfrm>
            <a:off x="15087600" y="1385316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must include corrected facts</a:t>
            </a:r>
            <a:endParaRPr lang="en-US" sz="1300" dirty="0"/>
          </a:p>
        </p:txBody>
      </p:sp>
      <p:sp>
        <p:nvSpPr>
          <p:cNvPr id="53" name="Shape 48"/>
          <p:cNvSpPr/>
          <p:nvPr/>
        </p:nvSpPr>
        <p:spPr>
          <a:xfrm>
            <a:off x="14767560" y="14401800"/>
            <a:ext cx="164592" cy="731520"/>
          </a:xfrm>
          <a:prstGeom prst="rect">
            <a:avLst/>
          </a:prstGeom>
          <a:solidFill>
            <a:srgbClr val="C45C4A"/>
          </a:solidFill>
          <a:ln w="12700">
            <a:solidFill>
              <a:srgbClr val="C45C4A"/>
            </a:solidFill>
            <a:prstDash val="solid"/>
          </a:ln>
        </p:spPr>
      </p:sp>
      <p:sp>
        <p:nvSpPr>
          <p:cNvPr id="54" name="Text 49"/>
          <p:cNvSpPr txBox="1"/>
          <p:nvPr/>
        </p:nvSpPr>
        <p:spPr>
          <a:xfrm>
            <a:off x="15087600" y="1440180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Stale-memory leakage</a:t>
            </a:r>
            <a:endParaRPr lang="en-US" sz="1500" dirty="0"/>
          </a:p>
        </p:txBody>
      </p:sp>
      <p:sp>
        <p:nvSpPr>
          <p:cNvPr id="55" name="Text 50"/>
          <p:cNvSpPr txBox="1"/>
          <p:nvPr/>
        </p:nvSpPr>
        <p:spPr>
          <a:xfrm>
            <a:off x="15087600" y="1472184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facts must not reappear (negation window)</a:t>
            </a:r>
            <a:endParaRPr lang="en-US" sz="1300" dirty="0"/>
          </a:p>
        </p:txBody>
      </p:sp>
      <p:sp>
        <p:nvSpPr>
          <p:cNvPr id="56" name="Shape 51"/>
          <p:cNvSpPr/>
          <p:nvPr/>
        </p:nvSpPr>
        <p:spPr>
          <a:xfrm>
            <a:off x="14767560" y="15270480"/>
            <a:ext cx="164592" cy="731520"/>
          </a:xfrm>
          <a:prstGeom prst="rect">
            <a:avLst/>
          </a:prstGeom>
          <a:solidFill>
            <a:srgbClr val="1A7A6D"/>
          </a:solidFill>
          <a:ln w="12700">
            <a:solidFill>
              <a:srgbClr val="1A7A6D"/>
            </a:solidFill>
            <a:prstDash val="solid"/>
          </a:ln>
        </p:spPr>
      </p:sp>
      <p:sp>
        <p:nvSpPr>
          <p:cNvPr id="57" name="Text 52"/>
          <p:cNvSpPr txBox="1"/>
          <p:nvPr/>
        </p:nvSpPr>
        <p:spPr>
          <a:xfrm>
            <a:off x="15087600" y="1527048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Unsupported inference</a:t>
            </a:r>
            <a:endParaRPr lang="en-US" sz="1500" dirty="0"/>
          </a:p>
        </p:txBody>
      </p:sp>
      <p:sp>
        <p:nvSpPr>
          <p:cNvPr id="58" name="Text 53"/>
          <p:cNvSpPr txBox="1"/>
          <p:nvPr/>
        </p:nvSpPr>
        <p:spPr>
          <a:xfrm>
            <a:off x="15087600" y="1559052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diagnoses the seed never stored</a:t>
            </a:r>
            <a:endParaRPr lang="en-US" sz="1300" dirty="0"/>
          </a:p>
        </p:txBody>
      </p:sp>
      <p:sp>
        <p:nvSpPr>
          <p:cNvPr id="59" name="Shape 54"/>
          <p:cNvSpPr/>
          <p:nvPr/>
        </p:nvSpPr>
        <p:spPr>
          <a:xfrm>
            <a:off x="502920" y="16596360"/>
            <a:ext cx="6858000" cy="4160520"/>
          </a:xfrm>
          <a:prstGeom prst="roundRect">
            <a:avLst>
              <a:gd name="adj" fmla="val 1758"/>
            </a:avLst>
          </a:prstGeom>
          <a:solidFill>
            <a:srgbClr val="FFFBF6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60" name="Text 55"/>
          <p:cNvSpPr txBox="1"/>
          <p:nvPr/>
        </p:nvSpPr>
        <p:spPr>
          <a:xfrm>
            <a:off x="685800" y="16779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1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300" dirty="0"/>
          </a:p>
        </p:txBody>
      </p:sp>
      <p:sp>
        <p:nvSpPr>
          <p:cNvPr id="61" name="Text 56"/>
          <p:cNvSpPr txBox="1"/>
          <p:nvPr/>
        </p:nvSpPr>
        <p:spPr>
          <a:xfrm>
            <a:off x="685800" y="17236440"/>
            <a:ext cx="6492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correction that never reaches the prompt is theater — the reply arm must consume the new snapshot.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edges come from recorded ids, not fuzzy wording similarity.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 mode proves the pipeline; live Cursor runs are the model score.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Substring rubrics are honest about their limits — and force reproducible claims.</a:t>
            </a:r>
            <a:endParaRPr lang="en-US" sz="1500" dirty="0"/>
          </a:p>
        </p:txBody>
      </p:sp>
      <p:sp>
        <p:nvSpPr>
          <p:cNvPr id="62" name="Shape 57"/>
          <p:cNvSpPr/>
          <p:nvPr/>
        </p:nvSpPr>
        <p:spPr>
          <a:xfrm>
            <a:off x="7543800" y="16596360"/>
            <a:ext cx="6858000" cy="4160520"/>
          </a:xfrm>
          <a:prstGeom prst="roundRect">
            <a:avLst>
              <a:gd name="adj" fmla="val 1758"/>
            </a:avLst>
          </a:prstGeom>
          <a:solidFill>
            <a:srgbClr val="FFFBF6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63" name="Text 58"/>
          <p:cNvSpPr txBox="1"/>
          <p:nvPr/>
        </p:nvSpPr>
        <p:spPr>
          <a:xfrm>
            <a:off x="7726680" y="16779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1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 &amp;  FUTURE WORK</a:t>
            </a:r>
            <a:endParaRPr lang="en-US" sz="1300" dirty="0"/>
          </a:p>
        </p:txBody>
      </p:sp>
      <p:sp>
        <p:nvSpPr>
          <p:cNvPr id="64" name="Text 59"/>
          <p:cNvSpPr txBox="1"/>
          <p:nvPr/>
        </p:nvSpPr>
        <p:spPr>
          <a:xfrm>
            <a:off x="7726680" y="17236440"/>
            <a:ext cx="6492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people and planted stale beliefs — not a field study of production chat logs.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claim is scoped: replies differ because the memory list differed, under fixed agent settings.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is lexical; paraphrases can fail adherence or false-flag leakage.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user study on trust repair; stronger paraphrase scoring; rate limits before wider deploy.</a:t>
            </a:r>
            <a:endParaRPr lang="en-US" sz="1500" dirty="0"/>
          </a:p>
        </p:txBody>
      </p:sp>
      <p:sp>
        <p:nvSpPr>
          <p:cNvPr id="65" name="Shape 60"/>
          <p:cNvSpPr/>
          <p:nvPr/>
        </p:nvSpPr>
        <p:spPr>
          <a:xfrm>
            <a:off x="14584680" y="16596360"/>
            <a:ext cx="6858000" cy="4160520"/>
          </a:xfrm>
          <a:prstGeom prst="roundRect">
            <a:avLst>
              <a:gd name="adj" fmla="val 2198"/>
            </a:avLst>
          </a:prstGeom>
          <a:solidFill>
            <a:srgbClr val="1D2A44"/>
          </a:solidFill>
          <a:ln w="12700">
            <a:solidFill>
              <a:srgbClr val="1D2A44"/>
            </a:solidFill>
            <a:prstDash val="solid"/>
          </a:ln>
        </p:spPr>
      </p:sp>
      <p:sp>
        <p:nvSpPr>
          <p:cNvPr id="66" name="Shape 61"/>
          <p:cNvSpPr/>
          <p:nvPr/>
        </p:nvSpPr>
        <p:spPr>
          <a:xfrm>
            <a:off x="14584680" y="16596360"/>
            <a:ext cx="201168" cy="4160520"/>
          </a:xfrm>
          <a:prstGeom prst="rect">
            <a:avLst/>
          </a:prstGeom>
          <a:solidFill>
            <a:srgbClr val="1A7A6D"/>
          </a:solidFill>
          <a:ln w="12700">
            <a:solidFill>
              <a:srgbClr val="1A7A6D"/>
            </a:solidFill>
            <a:prstDash val="solid"/>
          </a:ln>
        </p:spPr>
      </p:sp>
      <p:sp>
        <p:nvSpPr>
          <p:cNvPr id="67" name="Text 62"/>
          <p:cNvSpPr txBox="1"/>
          <p:nvPr/>
        </p:nvSpPr>
        <p:spPr>
          <a:xfrm>
            <a:off x="14996160" y="1682496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400" dirty="0"/>
          </a:p>
        </p:txBody>
      </p:sp>
      <p:sp>
        <p:nvSpPr>
          <p:cNvPr id="68" name="Text 63"/>
          <p:cNvSpPr txBox="1"/>
          <p:nvPr/>
        </p:nvSpPr>
        <p:spPr>
          <a:xfrm>
            <a:off x="14996160" y="17282160"/>
            <a:ext cx="6217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the memory loop visible enough to audit — and measurable enough to fail.</a:t>
            </a:r>
            <a:endParaRPr lang="en-US" sz="2600" dirty="0"/>
          </a:p>
        </p:txBody>
      </p:sp>
      <p:sp>
        <p:nvSpPr>
          <p:cNvPr id="69" name="Text 64"/>
          <p:cNvSpPr txBox="1"/>
          <p:nvPr/>
        </p:nvSpPr>
        <p:spPr>
          <a:xfrm>
            <a:off x="14996160" y="18928080"/>
            <a:ext cx="6217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5CD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Artifact: Next.js demo with fixture + live Cursor agent modes, lineage explorer, counterfactual lab, and a 12-case benchmark you can re-run and export.</a:t>
            </a:r>
            <a:endParaRPr lang="en-US" sz="1500" dirty="0"/>
          </a:p>
        </p:txBody>
      </p:sp>
      <p:sp>
        <p:nvSpPr>
          <p:cNvPr id="70" name="Text 65"/>
          <p:cNvSpPr txBox="1"/>
          <p:nvPr/>
        </p:nvSpPr>
        <p:spPr>
          <a:xfrm>
            <a:off x="502920" y="20939760"/>
            <a:ext cx="2093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MemoryMirror  ·  AIPI 590 Project Expo  ·  Code + README in the project repository  ·  Poster size 24" × 24"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MemoryMirror — AIPI 590 Project Poster</dc:title>
  <dc:subject>Explainable AI · Persistent assistant memory</dc:subject>
  <dc:creator>Kedar Prashant Vaidya</dc:creator>
  <cp:lastModifiedBy>Kedar Prashant Vaidya</cp:lastModifiedBy>
  <cp:revision>1</cp:revision>
  <dcterms:created xsi:type="dcterms:W3CDTF">2026-10-17T03:11:44Z</dcterms:created>
  <dcterms:modified xsi:type="dcterms:W3CDTF">2026-10-17T03:11:44Z</dcterms:modified>
</cp:coreProperties>
</file>